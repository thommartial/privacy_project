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D4FF"/>
            </a:solidFill>
            <a:ln w="38100" cap="flat">
              <a:solidFill>
                <a:srgbClr val="00D4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ε=0.5</c:v>
                  </c:pt>
                  <c:pt idx="1">
                    <c:v>ε=1.0</c:v>
                  </c:pt>
                  <c:pt idx="2">
                    <c:v>ε=2.0</c:v>
                  </c:pt>
                  <c:pt idx="3">
                    <c:v>ε=3.0</c:v>
                  </c:pt>
                  <c:pt idx="4">
                    <c:v>ε=5.0</c:v>
                  </c:pt>
                  <c:pt idx="5">
                    <c:v>ε=8.0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75.07</c:v>
                </c:pt>
                <c:pt idx="1">
                  <c:v>75.07</c:v>
                </c:pt>
                <c:pt idx="2">
                  <c:v>85.6</c:v>
                </c:pt>
                <c:pt idx="3">
                  <c:v>88.4</c:v>
                </c:pt>
                <c:pt idx="4">
                  <c:v>90.93</c:v>
                </c:pt>
                <c:pt idx="5">
                  <c:v>99.47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FF6B35"/>
            </a:solidFill>
            <a:ln w="3810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ε=0.5</c:v>
                  </c:pt>
                  <c:pt idx="1">
                    <c:v>ε=1.0</c:v>
                  </c:pt>
                  <c:pt idx="2">
                    <c:v>ε=2.0</c:v>
                  </c:pt>
                  <c:pt idx="3">
                    <c:v>ε=3.0</c:v>
                  </c:pt>
                  <c:pt idx="4">
                    <c:v>ε=5.0</c:v>
                  </c:pt>
                  <c:pt idx="5">
                    <c:v>ε=8.0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44.18</c:v>
                </c:pt>
                <c:pt idx="1">
                  <c:v>44.18</c:v>
                </c:pt>
                <c:pt idx="2">
                  <c:v>60.21</c:v>
                </c:pt>
                <c:pt idx="3">
                  <c:v>64.53</c:v>
                </c:pt>
                <c:pt idx="4">
                  <c:v>70.15</c:v>
                </c:pt>
                <c:pt idx="5">
                  <c:v>97.21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ε=0.5</c:v>
                  </c:pt>
                  <c:pt idx="1">
                    <c:v>ε=1.0</c:v>
                  </c:pt>
                  <c:pt idx="2">
                    <c:v>ε=2.0</c:v>
                  </c:pt>
                  <c:pt idx="3">
                    <c:v>ε=3.0</c:v>
                  </c:pt>
                  <c:pt idx="4">
                    <c:v>ε=5.0</c:v>
                  </c:pt>
                  <c:pt idx="5">
                    <c:v>ε=8.0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78.23</c:v>
                </c:pt>
                <c:pt idx="1">
                  <c:v>78.23</c:v>
                </c:pt>
                <c:pt idx="2">
                  <c:v>83.15</c:v>
                </c:pt>
                <c:pt idx="3">
                  <c:v>87.29</c:v>
                </c:pt>
                <c:pt idx="4">
                  <c:v>89.14</c:v>
                </c:pt>
                <c:pt idx="5">
                  <c:v>99.68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Privacy Budget (ε)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3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Performance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4087c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46961" y="814536"/>
            <a:ext cx="3640428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825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CIS*6550 • PRIVACY, COMPLIANCE &amp; HUMAN CYBER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469636" y="1483072"/>
            <a:ext cx="6395228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1200"/>
              </a:spcAft>
              <a:buNone/>
            </a:pPr>
            <a:r>
              <a:rPr lang="en-US" sz="3150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Differentially Private Deep Learning</a:t>
            </a:r>
            <a:endParaRPr lang="en-US" sz="3150" dirty="0"/>
          </a:p>
          <a:p>
            <a:pPr algn="ctr" indent="0" marL="0">
              <a:lnSpc>
                <a:spcPts val="3780"/>
              </a:lnSpc>
              <a:spcAft>
                <a:spcPts val="1200"/>
              </a:spcAft>
              <a:buNone/>
            </a:pPr>
            <a:r>
              <a:rPr lang="en-US" sz="3150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PII Detection and Redaction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2810680" y="2747814"/>
            <a:ext cx="371299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30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Privacy Guarantees with Model Utility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23810" y="3523059"/>
            <a:ext cx="7810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Lanre Atoye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078188" y="3521125"/>
            <a:ext cx="9525" cy="190500"/>
          </a:xfrm>
          <a:prstGeom prst="rect">
            <a:avLst/>
          </a:prstGeom>
          <a:solidFill>
            <a:srgbClr val="2D4A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449370" y="3523059"/>
            <a:ext cx="19730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Ekwelle Epalle Thomas Martial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49782" y="4168825"/>
            <a:ext cx="16349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Guelph • Fall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Privacy Paradox in ML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558528"/>
            <a:ext cx="6057900" cy="731341"/>
          </a:xfrm>
          <a:prstGeom prst="roundRect">
            <a:avLst>
              <a:gd name="adj" fmla="val 1041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50" y="1691878"/>
            <a:ext cx="59070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CIRCULAR PROBLEM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38150" y="1863328"/>
            <a:ext cx="59070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PII detectors requires PII data → Models memorize sensitive information → Creates the very privacy violation we're trying to prevent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04800" y="2385120"/>
            <a:ext cx="6057900" cy="759916"/>
          </a:xfrm>
          <a:prstGeom prst="roundRect">
            <a:avLst>
              <a:gd name="adj" fmla="val 1002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150" y="2518470"/>
            <a:ext cx="59070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RISK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38150" y="2689920"/>
            <a:ext cx="59070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Carlini et al. (2021): Verbatim training data extracted from GPT-2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38150" y="2865090"/>
            <a:ext cx="59070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Shokri et al. (2017): Membership inference attacks identify training records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04800" y="3240286"/>
            <a:ext cx="6057900" cy="529530"/>
          </a:xfrm>
          <a:prstGeom prst="roundRect">
            <a:avLst>
              <a:gd name="adj" fmla="val 14390"/>
            </a:avLst>
          </a:prstGeom>
          <a:solidFill>
            <a:srgbClr val="1623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3850" y="3240286"/>
            <a:ext cx="0" cy="52953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250" y="3335536"/>
            <a:ext cx="58681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$4.88M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76250" y="3554611"/>
            <a:ext cx="58681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data breach cost (2024) • $165 per record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553200" y="1393031"/>
            <a:ext cx="23317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PENALTIES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6553200" y="1589187"/>
            <a:ext cx="2286000" cy="529382"/>
          </a:xfrm>
          <a:prstGeom prst="roundRect">
            <a:avLst>
              <a:gd name="adj" fmla="val 1439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67500" y="1684437"/>
            <a:ext cx="20985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(EU)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667500" y="1850082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€20M or 4% revenue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553200" y="2194768"/>
            <a:ext cx="2286000" cy="529382"/>
          </a:xfrm>
          <a:prstGeom prst="roundRect">
            <a:avLst>
              <a:gd name="adj" fmla="val 1439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67500" y="2290018"/>
            <a:ext cx="20985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PIPEDA (Canada)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667500" y="2455664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$100K CAD / violation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553200" y="2800350"/>
            <a:ext cx="2286000" cy="529382"/>
          </a:xfrm>
          <a:prstGeom prst="roundRect">
            <a:avLst>
              <a:gd name="adj" fmla="val 1439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67500" y="2895600"/>
            <a:ext cx="20985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(USA)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667500" y="3061246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$1.5M per category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553200" y="3405932"/>
            <a:ext cx="2286000" cy="529382"/>
          </a:xfrm>
          <a:prstGeom prst="roundRect">
            <a:avLst>
              <a:gd name="adj" fmla="val 1439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67500" y="3501182"/>
            <a:ext cx="20985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CCPA/CPRA (California)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667500" y="3666827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 / violation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304800" y="47949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IBM Cost of a Data Breach Report 2024; GDPR Art. 83; PIPEDA s.28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Differential Privacy: The Solution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756023"/>
            <a:ext cx="5638800" cy="922883"/>
          </a:xfrm>
          <a:prstGeom prst="roundRect">
            <a:avLst>
              <a:gd name="adj" fmla="val 825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908423"/>
            <a:ext cx="54406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GUARANTEE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2117973"/>
            <a:ext cx="544068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outputs from datasets differing by one record can differ by at most e^ε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57200" y="2379911"/>
            <a:ext cx="54406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Individual records cannot be identified from model behavior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04800" y="2793206"/>
            <a:ext cx="5638800" cy="1127671"/>
          </a:xfrm>
          <a:prstGeom prst="roundRect">
            <a:avLst>
              <a:gd name="adj" fmla="val 6757"/>
            </a:avLst>
          </a:prstGeom>
          <a:solidFill>
            <a:srgbClr val="1623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945606"/>
            <a:ext cx="54406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DP-SGD MECHANISM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3174206"/>
            <a:ext cx="54406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Clipping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Bound individual contribution (C=1.0)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391346"/>
            <a:ext cx="54406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Injection</a:t>
            </a:r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Calibrated Gaussian noise (σ=0.3-1.8)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608487"/>
            <a:ext cx="54406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Accounting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Track cumulative budget via Rényi DP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72200" y="1339453"/>
            <a:ext cx="2720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BUDGET (Ε) SCALE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172200" y="1568053"/>
            <a:ext cx="2667000" cy="554236"/>
          </a:xfrm>
          <a:prstGeom prst="roundRect">
            <a:avLst>
              <a:gd name="adj" fmla="val 1374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05550" y="1682353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&lt; 1.0 — Strong Privacy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305550" y="1874639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Publication-grade protection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72200" y="2217539"/>
            <a:ext cx="2667000" cy="554236"/>
          </a:xfrm>
          <a:prstGeom prst="roundRect">
            <a:avLst>
              <a:gd name="adj" fmla="val 13749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05550" y="2331839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= 1–3 — Moderate Privacy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305550" y="2524125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 for most use cases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72200" y="2867025"/>
            <a:ext cx="2667000" cy="554236"/>
          </a:xfrm>
          <a:prstGeom prst="roundRect">
            <a:avLst>
              <a:gd name="adj" fmla="val 13749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05550" y="2981325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= 3–5 — Weak Privacy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305550" y="3173611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protection remains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72200" y="3516511"/>
            <a:ext cx="2667000" cy="554236"/>
          </a:xfrm>
          <a:prstGeom prst="roundRect">
            <a:avLst>
              <a:gd name="adj" fmla="val 13749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05550" y="3630811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&gt; 5 — Very Weak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305550" y="3823097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privacy guarantees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45530" y="4204097"/>
            <a:ext cx="27203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ε = More noise = Better privacy = Less accuracy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205061"/>
            <a:ext cx="2717750" cy="1161901"/>
          </a:xfrm>
          <a:prstGeom prst="roundRect">
            <a:avLst>
              <a:gd name="adj" fmla="val 655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376511"/>
            <a:ext cx="2422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476250" y="1618357"/>
            <a:ext cx="24223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DistilBERT-base-uncased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76250" y="1875532"/>
            <a:ext cx="24223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classification with BIO tagging scheme for 48 PII entity types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13050" y="1205061"/>
            <a:ext cx="2717750" cy="1161901"/>
          </a:xfrm>
          <a:prstGeom prst="roundRect">
            <a:avLst>
              <a:gd name="adj" fmla="val 655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84500" y="1376511"/>
            <a:ext cx="2422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384500" y="1618357"/>
            <a:ext cx="24223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PII-Masking-43K (Synthetic)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384500" y="1875532"/>
            <a:ext cx="24223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samples: 3,500 train / 750 val / 750 test • 90 unique labels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1301" y="1205061"/>
            <a:ext cx="2717750" cy="1161901"/>
          </a:xfrm>
          <a:prstGeom prst="roundRect">
            <a:avLst>
              <a:gd name="adj" fmla="val 655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92751" y="1376511"/>
            <a:ext cx="2422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292751" y="1618357"/>
            <a:ext cx="24223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 Training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6292751" y="1875532"/>
            <a:ext cx="242234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i7, 32GB RAM • Democratizing privacy-preserving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4800" y="2481263"/>
            <a:ext cx="3840361" cy="969466"/>
          </a:xfrm>
          <a:prstGeom prst="roundRect">
            <a:avLst>
              <a:gd name="adj" fmla="val 7860"/>
            </a:avLst>
          </a:prstGeom>
          <a:solidFill>
            <a:srgbClr val="1623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2652713"/>
            <a:ext cx="35674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6250" y="2913608"/>
            <a:ext cx="3241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6250" y="3066008"/>
            <a:ext cx="3241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2598" y="2913608"/>
            <a:ext cx="5012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22598" y="3066008"/>
            <a:ext cx="5012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→ 32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42629" y="2913608"/>
            <a:ext cx="512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Clipping (C)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742629" y="3066008"/>
            <a:ext cx="51294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74119" y="2913608"/>
            <a:ext cx="5187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(σ)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474119" y="3066008"/>
            <a:ext cx="5187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0.3–1.8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35661" y="2540198"/>
            <a:ext cx="4503539" cy="851446"/>
          </a:xfrm>
          <a:prstGeom prst="roundRect">
            <a:avLst>
              <a:gd name="adj" fmla="val 8949"/>
            </a:avLst>
          </a:prstGeom>
          <a:solidFill>
            <a:srgbClr val="1623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07111" y="2711648"/>
            <a:ext cx="42438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LEVELS TESTED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04800" y="3565029"/>
            <a:ext cx="8534400" cy="906661"/>
          </a:xfrm>
          <a:prstGeom prst="roundRect">
            <a:avLst>
              <a:gd name="adj" fmla="val 8404"/>
            </a:avLst>
          </a:prstGeom>
          <a:solidFill>
            <a:srgbClr val="1E3A5F"/>
          </a:solidFill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5300" y="3796457"/>
            <a:ext cx="19890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PIVOT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95300" y="4000202"/>
            <a:ext cx="198909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450"/>
              </a:spcBef>
              <a:buNone/>
            </a:pPr>
            <a:r>
              <a:rPr lang="en-US" sz="13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PyTorch/Opacus → JAX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635895" y="3827859"/>
            <a:ext cx="7144" cy="381000"/>
          </a:xfrm>
          <a:prstGeom prst="rect">
            <a:avLst/>
          </a:prstGeom>
          <a:solidFill>
            <a:srgbClr val="2D4A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833539" y="3858369"/>
            <a:ext cx="40468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Opacus compatibility issues with transformers (embedding padding, layer norm) made training impractical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87844" y="3755529"/>
            <a:ext cx="37283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6987844" y="4147840"/>
            <a:ext cx="3728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536509" y="3835450"/>
            <a:ext cx="112320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→ 3-4 hrs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36509" y="4067770"/>
            <a:ext cx="11232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model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Privacy-Utility Tradeoff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762000"/>
            <a:ext cx="5829300" cy="3790950"/>
          </a:xfrm>
          <a:prstGeom prst="roundRect">
            <a:avLst>
              <a:gd name="adj" fmla="val 2010"/>
            </a:avLst>
          </a:prstGeom>
          <a:solidFill>
            <a:srgbClr val="1623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62700" y="819596"/>
            <a:ext cx="25260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6362700" y="1080492"/>
            <a:ext cx="2476500" cy="771376"/>
          </a:xfrm>
          <a:prstGeom prst="roundRect">
            <a:avLst>
              <a:gd name="adj" fmla="val 987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96050" y="1213842"/>
            <a:ext cx="22539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+16.13%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96050" y="1571923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ε=8.0 vs Regex baseline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362700" y="1966168"/>
            <a:ext cx="2476500" cy="771227"/>
          </a:xfrm>
          <a:prstGeom prst="roundRect">
            <a:avLst>
              <a:gd name="adj" fmla="val 988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96050" y="2099518"/>
            <a:ext cx="22539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wins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496050" y="2310854"/>
            <a:ext cx="225399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with DP noise, models outperform pattern matching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362700" y="2851696"/>
            <a:ext cx="2476500" cy="771227"/>
          </a:xfrm>
          <a:prstGeom prst="roundRect">
            <a:avLst>
              <a:gd name="adj" fmla="val 988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96050" y="2985046"/>
            <a:ext cx="22539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degrades faster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496050" y="3196382"/>
            <a:ext cx="225399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vs 21 pp drop — models become "trigger-happy"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362700" y="3737223"/>
            <a:ext cx="2476500" cy="757982"/>
          </a:xfrm>
          <a:prstGeom prst="roundRect">
            <a:avLst>
              <a:gd name="adj" fmla="val 10053"/>
            </a:avLst>
          </a:prstGeom>
          <a:solidFill>
            <a:srgbClr val="1623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81750" y="3737223"/>
            <a:ext cx="0" cy="75798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4150" y="3870573"/>
            <a:ext cx="22151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Anomaly Detected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4150" y="4068663"/>
            <a:ext cx="22151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ε=0.5 and ε=1.0 produce identical results — requires investigation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Regex pattern matching (83.33% accuracy)</a:t>
            </a:r>
            <a:endParaRPr lang="en-US" sz="7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04800" y="762000"/>
          <a:ext cx="5829300" cy="3790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by Privacy Level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707975"/>
            <a:ext cx="8534400" cy="2667000"/>
          </a:xfrm>
          <a:prstGeom prst="roundRect">
            <a:avLst>
              <a:gd name="adj" fmla="val 2857"/>
            </a:avLst>
          </a:prstGeom>
          <a:solidFill>
            <a:srgbClr val="1623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4800" y="3527375"/>
            <a:ext cx="2743200" cy="1079748"/>
          </a:xfrm>
          <a:prstGeom prst="roundRect">
            <a:avLst>
              <a:gd name="adj" fmla="val 705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679775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3883521"/>
            <a:ext cx="248716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= 3.0–5.0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4161532"/>
            <a:ext cx="248716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88–91% accuracy with meaningful privacy protection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200400" y="3627239"/>
            <a:ext cx="2743200" cy="879872"/>
          </a:xfrm>
          <a:prstGeom prst="roundRect">
            <a:avLst>
              <a:gd name="adj" fmla="val 866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52800" y="3779639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@ Ε=8.0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352800" y="3983385"/>
            <a:ext cx="24871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TN=621, FP=4, FN=0, TP=125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52800" y="4208115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Near-perfect: only 4 false positives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96000" y="3627239"/>
            <a:ext cx="2743200" cy="879872"/>
          </a:xfrm>
          <a:prstGeom prst="roundRect">
            <a:avLst>
              <a:gd name="adj" fmla="val 866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48400" y="3779639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@ Ε=0.5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248400" y="3983385"/>
            <a:ext cx="24871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TN=443, FP=182, FN=5, TP=120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48400" y="4208115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over-redaction: 182 false positives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AUC remains &gt;0.8 even at ε=0.5 — discriminative ability preserved, threshold/precision suffers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1005840"/>
                <a:gridCol w="1005840"/>
                <a:gridCol w="914400"/>
                <a:gridCol w="73152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(Regex)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∞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86.74%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99.47%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97.21%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99.68%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+16.13%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90.93%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89.14%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64.53%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87.29%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+5.07%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60.21%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+2.27%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75.07%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44.18%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78.23%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-8.27%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75.07%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44.18%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78.23%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0F4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-8.27%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6051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Redaction Pipeline: Real-World Testing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043285"/>
            <a:ext cx="5448300" cy="1251198"/>
          </a:xfrm>
          <a:prstGeom prst="roundRect">
            <a:avLst>
              <a:gd name="adj" fmla="val 609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233785"/>
            <a:ext cx="5168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CORPUS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495300" y="1529804"/>
            <a:ext cx="54057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95300" y="1922115"/>
            <a:ext cx="5405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215777" y="1608832"/>
            <a:ext cx="9525" cy="381000"/>
          </a:xfrm>
          <a:prstGeom prst="rect">
            <a:avLst/>
          </a:prstGeom>
          <a:solidFill>
            <a:srgbClr val="2D4A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15802" y="1494681"/>
            <a:ext cx="1111746" cy="6093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</a:t>
            </a:r>
            <a:endParaRPr lang="en-US" sz="900" dirty="0"/>
          </a:p>
          <a:p>
            <a:pPr algn="l" marL="76200" indent="-762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reports</a:t>
            </a:r>
            <a:endParaRPr lang="en-US" sz="900" dirty="0"/>
          </a:p>
          <a:p>
            <a:pPr algn="l" marL="76200" indent="-762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posts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4800" y="2446883"/>
            <a:ext cx="5448300" cy="1163836"/>
          </a:xfrm>
          <a:prstGeom prst="roundRect">
            <a:avLst>
              <a:gd name="adj" fmla="val 6547"/>
            </a:avLst>
          </a:prstGeom>
          <a:solidFill>
            <a:srgbClr val="162338"/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2656433"/>
            <a:ext cx="13014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ACCURACY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14350" y="2841129"/>
            <a:ext cx="1301422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10"/>
              </a:lnSpc>
              <a:spcBef>
                <a:spcPts val="300"/>
              </a:spcBef>
              <a:buNone/>
            </a:pPr>
            <a:r>
              <a:rPr lang="en-US" sz="315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79.8%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4026869" y="2849761"/>
            <a:ext cx="15166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goal achieved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6869" y="3047851"/>
            <a:ext cx="15166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delivered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4800" y="3763119"/>
            <a:ext cx="5448300" cy="870496"/>
          </a:xfrm>
          <a:prstGeom prst="roundRect">
            <a:avLst>
              <a:gd name="adj" fmla="val 87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300" y="3953619"/>
            <a:ext cx="51686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FEATURES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981700" y="1262211"/>
            <a:ext cx="29146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BREAKDOWN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981700" y="1523107"/>
            <a:ext cx="2857500" cy="887611"/>
          </a:xfrm>
          <a:prstGeom prst="roundRect">
            <a:avLst>
              <a:gd name="adj" fmla="val 858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34100" y="1708845"/>
            <a:ext cx="9128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8343602" y="1675507"/>
            <a:ext cx="3500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34100" y="1991618"/>
            <a:ext cx="2552700" cy="76200"/>
          </a:xfrm>
          <a:prstGeom prst="roundRect">
            <a:avLst>
              <a:gd name="adj" fmla="val 50000"/>
            </a:avLst>
          </a:prstGeom>
          <a:solidFill>
            <a:srgbClr val="1623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34100" y="1991618"/>
            <a:ext cx="306288" cy="762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34100" y="2124968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Non-PII text incorrectly redacted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81700" y="2525018"/>
            <a:ext cx="2857500" cy="887611"/>
          </a:xfrm>
          <a:prstGeom prst="roundRect">
            <a:avLst>
              <a:gd name="adj" fmla="val 858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34100" y="2710755"/>
            <a:ext cx="9266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Matches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8439001" y="2677418"/>
            <a:ext cx="2527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134100" y="2993529"/>
            <a:ext cx="2552700" cy="76200"/>
          </a:xfrm>
          <a:prstGeom prst="roundRect">
            <a:avLst>
              <a:gd name="adj" fmla="val 50000"/>
            </a:avLst>
          </a:prstGeom>
          <a:solidFill>
            <a:srgbClr val="1623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34100" y="2993529"/>
            <a:ext cx="204192" cy="762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34100" y="3126879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Multi-word names partially captured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81700" y="3526929"/>
            <a:ext cx="2857500" cy="887611"/>
          </a:xfrm>
          <a:prstGeom prst="roundRect">
            <a:avLst>
              <a:gd name="adj" fmla="val 858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34100" y="3712666"/>
            <a:ext cx="10668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Variations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8439001" y="3679329"/>
            <a:ext cx="2527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134100" y="3995440"/>
            <a:ext cx="2552700" cy="76200"/>
          </a:xfrm>
          <a:prstGeom prst="roundRect">
            <a:avLst>
              <a:gd name="adj" fmla="val 50000"/>
            </a:avLst>
          </a:prstGeom>
          <a:solidFill>
            <a:srgbClr val="1623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34100" y="3995440"/>
            <a:ext cx="127546" cy="762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34100" y="4128790"/>
            <a:ext cx="2603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Unusual PII formats missed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590824"/>
            <a:ext cx="4200525" cy="820936"/>
          </a:xfrm>
          <a:prstGeom prst="roundRect">
            <a:avLst>
              <a:gd name="adj" fmla="val 928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50" y="1724174"/>
            <a:ext cx="40125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Opacus-Transformers Incompatibility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150" y="1922264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Per-sample gradients, padding, layer norm issues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150" y="2131814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Migrated to JAX framework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38675" y="1590824"/>
            <a:ext cx="4200525" cy="820936"/>
          </a:xfrm>
          <a:prstGeom prst="roundRect">
            <a:avLst>
              <a:gd name="adj" fmla="val 928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72025" y="1724174"/>
            <a:ext cx="40125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Instability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72025" y="1922264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 gradients, oscillation, potential collapse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72025" y="2131814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Gradient accumulation + careful LR tuning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04800" y="2507010"/>
            <a:ext cx="4200525" cy="820936"/>
          </a:xfrm>
          <a:prstGeom prst="roundRect">
            <a:avLst>
              <a:gd name="adj" fmla="val 928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150" y="2640360"/>
            <a:ext cx="40125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CPU Training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150" y="2838450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10-50x slower than GPU baseline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38150" y="3048000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DistilBERT + 5K samples + JAX = 3-4 hrs/model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38675" y="2507010"/>
            <a:ext cx="4200525" cy="820936"/>
          </a:xfrm>
          <a:prstGeom prst="roundRect">
            <a:avLst>
              <a:gd name="adj" fmla="val 928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72025" y="2640360"/>
            <a:ext cx="40125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 Classification Complexity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2025" y="2838450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85-95% O labels, subword tokenization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72025" y="3048000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BIO tagging + entity-level evaluation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04800" y="3461296"/>
            <a:ext cx="8534400" cy="624632"/>
          </a:xfrm>
          <a:prstGeom prst="roundRect">
            <a:avLst>
              <a:gd name="adj" fmla="val 12199"/>
            </a:avLst>
          </a:prstGeom>
          <a:solidFill>
            <a:srgbClr val="1623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3850" y="3461296"/>
            <a:ext cx="0" cy="624632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250" y="3594646"/>
            <a:ext cx="8394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Lesson: Framework selection is as critical as algorithm design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76250" y="3805982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engineering decisions (PyTorch vs JAX, model size, batch strategy) determined project feasibility more than theoretical DP choices.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Future Work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744438"/>
            <a:ext cx="5362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04800" y="1024384"/>
            <a:ext cx="5257800" cy="597991"/>
          </a:xfrm>
          <a:prstGeom prst="roundRect">
            <a:avLst>
              <a:gd name="adj" fmla="val 127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157734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Privacy-Utility Analysis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38150" y="1342430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analysis across 6 epsilon values for NER token classification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04800" y="1755725"/>
            <a:ext cx="5257800" cy="597991"/>
          </a:xfrm>
          <a:prstGeom prst="roundRect">
            <a:avLst>
              <a:gd name="adj" fmla="val 127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1889075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CPU-Only Training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38150" y="2073771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feasibility — democratizing privacy-preserving AI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04800" y="2487067"/>
            <a:ext cx="5257800" cy="597991"/>
          </a:xfrm>
          <a:prstGeom prst="roundRect">
            <a:avLst>
              <a:gd name="adj" fmla="val 127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150" y="2620417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Framework Comparison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38150" y="2805113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Opacus vs JAX analysis for practical deployment guidance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04800" y="3218408"/>
            <a:ext cx="5257800" cy="597991"/>
          </a:xfrm>
          <a:prstGeom prst="roundRect">
            <a:avLst>
              <a:gd name="adj" fmla="val 127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8150" y="3351758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Redaction Pipeline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38150" y="3536454"/>
            <a:ext cx="50909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system with 79.8% real-world accuracy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04800" y="3987850"/>
            <a:ext cx="5257800" cy="944761"/>
          </a:xfrm>
          <a:prstGeom prst="roundRect">
            <a:avLst>
              <a:gd name="adj" fmla="val 8066"/>
            </a:avLst>
          </a:prstGeom>
          <a:solidFill>
            <a:srgbClr val="162338"/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50" y="4159300"/>
            <a:ext cx="50131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250" y="4376440"/>
            <a:ext cx="5013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ε = 3.0–5.0 for most practical applications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76250" y="4614565"/>
            <a:ext cx="50131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88-91% accuracy with meaningful privacy protection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791200" y="950863"/>
            <a:ext cx="31089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791200" y="1211759"/>
            <a:ext cx="3048000" cy="611386"/>
          </a:xfrm>
          <a:prstGeom prst="roundRect">
            <a:avLst>
              <a:gd name="adj" fmla="val 1246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24550" y="1345109"/>
            <a:ext cx="2836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Full Dataset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24550" y="1543199"/>
            <a:ext cx="2836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 → 43K samples for production readiness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791200" y="1937445"/>
            <a:ext cx="3048000" cy="611386"/>
          </a:xfrm>
          <a:prstGeom prst="roundRect">
            <a:avLst>
              <a:gd name="adj" fmla="val 1246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24550" y="2070795"/>
            <a:ext cx="2836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ε=0.5/1.0 Anomaly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24550" y="2268885"/>
            <a:ext cx="2836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training collapse vs accounting issue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791200" y="2663130"/>
            <a:ext cx="3048000" cy="611386"/>
          </a:xfrm>
          <a:prstGeom prst="roundRect">
            <a:avLst>
              <a:gd name="adj" fmla="val 1246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924550" y="2796480"/>
            <a:ext cx="2836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Domain-Specific Testing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24550" y="2994571"/>
            <a:ext cx="2836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documents, medical records, financial data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791200" y="3388816"/>
            <a:ext cx="3048000" cy="611386"/>
          </a:xfrm>
          <a:prstGeom prst="roundRect">
            <a:avLst>
              <a:gd name="adj" fmla="val 1246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24550" y="3522166"/>
            <a:ext cx="2836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Per-Entity Performance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24550" y="3720257"/>
            <a:ext cx="2836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metrics by PII type for targeted improvements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791200" y="4114502"/>
            <a:ext cx="3048000" cy="611386"/>
          </a:xfrm>
          <a:prstGeom prst="roundRect">
            <a:avLst>
              <a:gd name="adj" fmla="val 1246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924550" y="4247852"/>
            <a:ext cx="28369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Rényi DP Mechanisms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24550" y="4445943"/>
            <a:ext cx="28369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Tighter accounting for stronger guarantees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ab910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67578" y="373559"/>
            <a:ext cx="21991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41204" y="1135559"/>
            <a:ext cx="2051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0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774900" y="1935659"/>
            <a:ext cx="3784550" cy="1260872"/>
          </a:xfrm>
          <a:prstGeom prst="roundRect">
            <a:avLst>
              <a:gd name="adj" fmla="val 604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125675" y="2164259"/>
            <a:ext cx="30830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1200"/>
              </a:spcAft>
              <a:buNone/>
            </a:pPr>
            <a:r>
              <a:rPr lang="en-US" sz="825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DELIVERABLES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3148718" y="2463254"/>
            <a:ext cx="7326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148718" y="2821335"/>
            <a:ext cx="7326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Models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178945" y="2525018"/>
            <a:ext cx="9525" cy="381000"/>
          </a:xfrm>
          <a:prstGeom prst="rect">
            <a:avLst/>
          </a:prstGeom>
          <a:solidFill>
            <a:srgbClr val="2D4A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487387" y="2463254"/>
            <a:ext cx="60008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487387" y="2821335"/>
            <a:ext cx="6000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Report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386388" y="2525018"/>
            <a:ext cx="9525" cy="381000"/>
          </a:xfrm>
          <a:prstGeom prst="rect">
            <a:avLst/>
          </a:prstGeom>
          <a:solidFill>
            <a:srgbClr val="2D4A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695935" y="2463254"/>
            <a:ext cx="4872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695935" y="2821335"/>
            <a:ext cx="4872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111253" y="3653730"/>
            <a:ext cx="31118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Repository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111253" y="3889921"/>
            <a:ext cx="31118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D4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github.com/Thommartial/privacy_project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385096" y="4609951"/>
            <a:ext cx="6223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Lanre Atoye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366785" y="4609951"/>
            <a:ext cx="15919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Ekwelle Epalle Thomas Martial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Differentially Private Deep Learning for PII Detection</dc:title>
  <dc:subject>CIS*6550 Privacy, Compliance &amp; Human Cyber</dc:subject>
  <dc:creator>Lanre Atoye, Ekwelle Epalle Thomas Martial</dc:creator>
  <cp:lastModifiedBy>Lanre Atoye, Ekwelle Epalle Thomas Martial</cp:lastModifiedBy>
  <cp:revision>1</cp:revision>
  <dcterms:created xsi:type="dcterms:W3CDTF">2025-12-07T04:09:47Z</dcterms:created>
  <dcterms:modified xsi:type="dcterms:W3CDTF">2025-12-07T04:09:47Z</dcterms:modified>
</cp:coreProperties>
</file>